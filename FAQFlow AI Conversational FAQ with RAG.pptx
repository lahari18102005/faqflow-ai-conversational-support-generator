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grandir" panose="020B0604020202020204" charset="0"/>
      <p:regular r:id="rId14"/>
    </p:embeddedFont>
    <p:embeddedFont>
      <p:font typeface="Maragsa" panose="020B0604020202020204" charset="0"/>
      <p:regular r:id="rId15"/>
    </p:embeddedFont>
    <p:embeddedFont>
      <p:font typeface="Times New Roman Bold" panose="02020803070505020304" pitchFamily="18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20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17023" y="2352711"/>
            <a:ext cx="10858940" cy="4124409"/>
            <a:chOff x="0" y="0"/>
            <a:chExt cx="2859968" cy="10862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59968" cy="1086264"/>
            </a:xfrm>
            <a:custGeom>
              <a:avLst/>
              <a:gdLst/>
              <a:ahLst/>
              <a:cxnLst/>
              <a:rect l="l" t="t" r="r" b="b"/>
              <a:pathLst>
                <a:path w="2859968" h="1086264">
                  <a:moveTo>
                    <a:pt x="36361" y="0"/>
                  </a:moveTo>
                  <a:lnTo>
                    <a:pt x="2823607" y="0"/>
                  </a:lnTo>
                  <a:cubicBezTo>
                    <a:pt x="2833251" y="0"/>
                    <a:pt x="2842499" y="3831"/>
                    <a:pt x="2849318" y="10650"/>
                  </a:cubicBezTo>
                  <a:cubicBezTo>
                    <a:pt x="2856137" y="17469"/>
                    <a:pt x="2859968" y="26717"/>
                    <a:pt x="2859968" y="36361"/>
                  </a:cubicBezTo>
                  <a:lnTo>
                    <a:pt x="2859968" y="1049903"/>
                  </a:lnTo>
                  <a:cubicBezTo>
                    <a:pt x="2859968" y="1069985"/>
                    <a:pt x="2843689" y="1086264"/>
                    <a:pt x="2823607" y="1086264"/>
                  </a:cubicBezTo>
                  <a:lnTo>
                    <a:pt x="36361" y="1086264"/>
                  </a:lnTo>
                  <a:cubicBezTo>
                    <a:pt x="26717" y="1086264"/>
                    <a:pt x="17469" y="1082433"/>
                    <a:pt x="10650" y="1075614"/>
                  </a:cubicBezTo>
                  <a:cubicBezTo>
                    <a:pt x="3831" y="1068795"/>
                    <a:pt x="0" y="1059547"/>
                    <a:pt x="0" y="1049903"/>
                  </a:cubicBezTo>
                  <a:lnTo>
                    <a:pt x="0" y="36361"/>
                  </a:lnTo>
                  <a:cubicBezTo>
                    <a:pt x="0" y="26717"/>
                    <a:pt x="3831" y="17469"/>
                    <a:pt x="10650" y="10650"/>
                  </a:cubicBezTo>
                  <a:cubicBezTo>
                    <a:pt x="17469" y="3831"/>
                    <a:pt x="26717" y="0"/>
                    <a:pt x="36361" y="0"/>
                  </a:cubicBezTo>
                  <a:close/>
                </a:path>
              </a:pathLst>
            </a:custGeom>
            <a:solidFill>
              <a:srgbClr val="42424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2859968" cy="1200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633922" y="2531156"/>
            <a:ext cx="11020156" cy="362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59"/>
              </a:lnSpc>
              <a:spcBef>
                <a:spcPct val="0"/>
              </a:spcBef>
            </a:pPr>
            <a:r>
              <a:rPr lang="en-US" sz="6899" dirty="0">
                <a:solidFill>
                  <a:srgbClr val="F8F4EB"/>
                </a:solidFill>
                <a:latin typeface="Maragsa"/>
                <a:ea typeface="Maragsa"/>
                <a:cs typeface="Maragsa"/>
                <a:sym typeface="Maragsa"/>
              </a:rPr>
              <a:t>FAQFLOW AI</a:t>
            </a:r>
          </a:p>
          <a:p>
            <a:pPr marL="0" lvl="0" indent="0" algn="ctr">
              <a:lnSpc>
                <a:spcPts val="9659"/>
              </a:lnSpc>
              <a:spcBef>
                <a:spcPct val="0"/>
              </a:spcBef>
            </a:pPr>
            <a:r>
              <a:rPr lang="en-US" sz="6899" dirty="0">
                <a:solidFill>
                  <a:srgbClr val="F8F4EB"/>
                </a:solidFill>
                <a:latin typeface="Maragsa"/>
                <a:ea typeface="Maragsa"/>
                <a:cs typeface="Maragsa"/>
                <a:sym typeface="Maragsa"/>
              </a:rPr>
              <a:t>CONVERSATIONAL FAQ ASSISTANT USING RAG</a:t>
            </a:r>
          </a:p>
        </p:txBody>
      </p:sp>
      <p:sp>
        <p:nvSpPr>
          <p:cNvPr id="6" name="Freeform 6"/>
          <p:cNvSpPr/>
          <p:nvPr/>
        </p:nvSpPr>
        <p:spPr>
          <a:xfrm>
            <a:off x="-1032959" y="-2455521"/>
            <a:ext cx="5049982" cy="6172200"/>
          </a:xfrm>
          <a:custGeom>
            <a:avLst/>
            <a:gdLst/>
            <a:ahLst/>
            <a:cxnLst/>
            <a:rect l="l" t="t" r="r" b="b"/>
            <a:pathLst>
              <a:path w="5049982" h="6172200">
                <a:moveTo>
                  <a:pt x="0" y="0"/>
                </a:moveTo>
                <a:lnTo>
                  <a:pt x="5049982" y="0"/>
                </a:lnTo>
                <a:lnTo>
                  <a:pt x="504998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030195" y="70903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-174586" y="8477446"/>
            <a:ext cx="3777058" cy="3619109"/>
          </a:xfrm>
          <a:custGeom>
            <a:avLst/>
            <a:gdLst/>
            <a:ahLst/>
            <a:cxnLst/>
            <a:rect l="l" t="t" r="r" b="b"/>
            <a:pathLst>
              <a:path w="3777058" h="3619109">
                <a:moveTo>
                  <a:pt x="0" y="0"/>
                </a:moveTo>
                <a:lnTo>
                  <a:pt x="3777058" y="0"/>
                </a:lnTo>
                <a:lnTo>
                  <a:pt x="3777058" y="3619108"/>
                </a:lnTo>
                <a:lnTo>
                  <a:pt x="0" y="36191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193529" y="7099934"/>
            <a:ext cx="7900942" cy="2158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K. Sai Supriya  AP23110010396</a:t>
            </a:r>
          </a:p>
          <a:p>
            <a:pPr algn="ctr">
              <a:lnSpc>
                <a:spcPts val="3359"/>
              </a:lnSpc>
            </a:pPr>
            <a:r>
              <a:rPr lang="en-US" sz="2399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A. </a:t>
            </a:r>
            <a:r>
              <a:rPr lang="en-US" sz="2399" dirty="0" err="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Yasasri</a:t>
            </a:r>
            <a:r>
              <a:rPr lang="en-US" sz="2399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AP23110010676</a:t>
            </a:r>
          </a:p>
          <a:p>
            <a:pPr algn="ctr">
              <a:lnSpc>
                <a:spcPts val="3359"/>
              </a:lnSpc>
            </a:pPr>
            <a:r>
              <a:rPr lang="en-US" sz="2399" dirty="0" err="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B.Lahari</a:t>
            </a:r>
            <a:r>
              <a:rPr lang="en-US" sz="2399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AP23110010808</a:t>
            </a:r>
          </a:p>
          <a:p>
            <a:pPr algn="ctr">
              <a:lnSpc>
                <a:spcPts val="3359"/>
              </a:lnSpc>
            </a:pPr>
            <a:r>
              <a:rPr lang="en-US" sz="2399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P. </a:t>
            </a:r>
            <a:r>
              <a:rPr lang="en-US" sz="2399" dirty="0" err="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Thrailokya</a:t>
            </a:r>
            <a:r>
              <a:rPr lang="en-US" sz="2399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AP23110010674</a:t>
            </a:r>
          </a:p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G. Hema Sri   AP23110011195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2864399" y="5949127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73146" y="-1125046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01051" y="1498808"/>
            <a:ext cx="7529247" cy="1248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40"/>
              </a:lnSpc>
              <a:spcBef>
                <a:spcPct val="0"/>
              </a:spcBef>
            </a:pPr>
            <a:r>
              <a:rPr lang="en-US" sz="710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85658" y="3977452"/>
            <a:ext cx="12412352" cy="376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318" lvl="1" indent="-323659" algn="just">
              <a:lnSpc>
                <a:spcPts val="4857"/>
              </a:lnSpc>
              <a:buFont typeface="Arial"/>
              <a:buChar char="•"/>
            </a:pPr>
            <a:r>
              <a:rPr lang="en-US" sz="2998" spc="296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FAQ systems rely on keyword matching</a:t>
            </a:r>
          </a:p>
          <a:p>
            <a:pPr marL="647318" lvl="1" indent="-323659" algn="just">
              <a:lnSpc>
                <a:spcPts val="4857"/>
              </a:lnSpc>
              <a:buFont typeface="Arial"/>
              <a:buChar char="•"/>
            </a:pPr>
            <a:r>
              <a:rPr lang="en-US" sz="2998" spc="296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understanding of user intent or context</a:t>
            </a:r>
          </a:p>
          <a:p>
            <a:pPr marL="647318" lvl="1" indent="-323659" algn="just">
              <a:lnSpc>
                <a:spcPct val="150000"/>
              </a:lnSpc>
              <a:buFont typeface="Arial"/>
              <a:buChar char="•"/>
            </a:pPr>
            <a:r>
              <a:rPr lang="en-US" sz="2998" spc="296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handle natural language queries</a:t>
            </a:r>
          </a:p>
          <a:p>
            <a:pPr marL="647318" lvl="1" indent="-323659" algn="just">
              <a:lnSpc>
                <a:spcPts val="4857"/>
              </a:lnSpc>
              <a:buFont typeface="Arial"/>
              <a:buChar char="•"/>
            </a:pPr>
            <a:r>
              <a:rPr lang="en-US" sz="2998" spc="296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Leads to irrelevant results and poor user experience</a:t>
            </a:r>
          </a:p>
          <a:p>
            <a:pPr marL="647318" lvl="1" indent="-323659" algn="just">
              <a:lnSpc>
                <a:spcPts val="4857"/>
              </a:lnSpc>
              <a:buFont typeface="Arial"/>
              <a:buChar char="•"/>
            </a:pPr>
            <a:r>
              <a:rPr lang="en-US" sz="2998" spc="296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intelligent, conversational AI systems</a:t>
            </a:r>
          </a:p>
          <a:p>
            <a:pPr marL="0" lvl="0" indent="0" algn="just">
              <a:lnSpc>
                <a:spcPts val="4857"/>
              </a:lnSpc>
            </a:pPr>
            <a:endParaRPr lang="en-US" sz="2998" spc="296" dirty="0">
              <a:solidFill>
                <a:srgbClr val="42424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2864399" y="5949127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73146" y="-1125046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080720" y="1409812"/>
            <a:ext cx="6445235" cy="112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91"/>
              </a:lnSpc>
              <a:spcBef>
                <a:spcPct val="0"/>
              </a:spcBef>
            </a:pPr>
            <a:r>
              <a:rPr lang="en-US" sz="6422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70852" y="3448449"/>
            <a:ext cx="11346295" cy="6149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ct val="150000"/>
              </a:lnSpc>
              <a:buFont typeface="Arial"/>
              <a:buChar char="•"/>
            </a:pPr>
            <a:r>
              <a:rPr lang="en-US" sz="3000" spc="297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response accuracy using semantic search</a:t>
            </a:r>
          </a:p>
          <a:p>
            <a:pPr marL="647700" lvl="1" indent="-323850" algn="just">
              <a:lnSpc>
                <a:spcPct val="150000"/>
              </a:lnSpc>
              <a:buFont typeface="Arial"/>
              <a:buChar char="•"/>
            </a:pPr>
            <a:r>
              <a:rPr lang="en-US" sz="3000" spc="297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conversational FAQ system</a:t>
            </a:r>
          </a:p>
          <a:p>
            <a:pPr marL="647700" lvl="1" indent="-323850" algn="just">
              <a:lnSpc>
                <a:spcPct val="150000"/>
              </a:lnSpc>
              <a:buFont typeface="Arial"/>
              <a:buChar char="•"/>
            </a:pPr>
            <a:r>
              <a:rPr lang="en-US" sz="3000" spc="297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semantic search (embeddings + FAISS)</a:t>
            </a:r>
          </a:p>
          <a:p>
            <a:pPr marL="647700" lvl="1" indent="-323850" algn="just">
              <a:lnSpc>
                <a:spcPct val="150000"/>
              </a:lnSpc>
              <a:buFont typeface="Arial"/>
              <a:buChar char="•"/>
            </a:pPr>
            <a:r>
              <a:rPr lang="en-US" sz="3000" spc="297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responses using LLM</a:t>
            </a:r>
          </a:p>
          <a:p>
            <a:pPr marL="647700" lvl="1" indent="-323850" algn="just">
              <a:lnSpc>
                <a:spcPct val="150000"/>
              </a:lnSpc>
              <a:buFont typeface="Arial"/>
              <a:buChar char="•"/>
            </a:pPr>
            <a:r>
              <a:rPr lang="en-US" sz="3000" spc="297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follow-up suggestions</a:t>
            </a:r>
          </a:p>
          <a:p>
            <a:pPr marL="647700" lvl="1" indent="-323850" algn="just">
              <a:lnSpc>
                <a:spcPct val="150000"/>
              </a:lnSpc>
              <a:buFont typeface="Arial"/>
              <a:buChar char="•"/>
            </a:pPr>
            <a:r>
              <a:rPr lang="en-US" sz="3000" spc="297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short-term memory</a:t>
            </a:r>
          </a:p>
          <a:p>
            <a:pPr marL="647700" lvl="1" indent="-323850" algn="just">
              <a:lnSpc>
                <a:spcPct val="150000"/>
              </a:lnSpc>
              <a:buFont typeface="Arial"/>
              <a:buChar char="•"/>
            </a:pPr>
            <a:r>
              <a:rPr lang="en-US" sz="3000" spc="297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overall user experience</a:t>
            </a:r>
          </a:p>
          <a:p>
            <a:pPr marL="647700" lvl="1" indent="-323850" algn="just">
              <a:lnSpc>
                <a:spcPct val="150000"/>
              </a:lnSpc>
              <a:buFont typeface="Arial"/>
              <a:buChar char="•"/>
            </a:pPr>
            <a:endParaRPr lang="en-US" sz="3000" spc="297" dirty="0">
              <a:solidFill>
                <a:srgbClr val="42424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50000"/>
              </a:lnSpc>
            </a:pPr>
            <a:endParaRPr lang="en-US" sz="3000" spc="297" dirty="0">
              <a:solidFill>
                <a:srgbClr val="42424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53678" y="4135090"/>
            <a:ext cx="10661722" cy="9361512"/>
          </a:xfrm>
          <a:custGeom>
            <a:avLst/>
            <a:gdLst/>
            <a:ahLst/>
            <a:cxnLst/>
            <a:rect l="l" t="t" r="r" b="b"/>
            <a:pathLst>
              <a:path w="10661722" h="9361512">
                <a:moveTo>
                  <a:pt x="0" y="0"/>
                </a:moveTo>
                <a:lnTo>
                  <a:pt x="10661721" y="0"/>
                </a:lnTo>
                <a:lnTo>
                  <a:pt x="10661721" y="9361512"/>
                </a:lnTo>
                <a:lnTo>
                  <a:pt x="0" y="9361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05200" y="1199016"/>
            <a:ext cx="9476043" cy="112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91"/>
              </a:lnSpc>
              <a:spcBef>
                <a:spcPct val="0"/>
              </a:spcBef>
            </a:pPr>
            <a:r>
              <a:rPr lang="en-US" sz="6422" b="1" dirty="0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OVERVIEW</a:t>
            </a:r>
          </a:p>
        </p:txBody>
      </p:sp>
      <p:sp>
        <p:nvSpPr>
          <p:cNvPr id="4" name="Freeform 4"/>
          <p:cNvSpPr/>
          <p:nvPr/>
        </p:nvSpPr>
        <p:spPr>
          <a:xfrm>
            <a:off x="12755453" y="6047222"/>
            <a:ext cx="4828636" cy="4239778"/>
          </a:xfrm>
          <a:custGeom>
            <a:avLst/>
            <a:gdLst/>
            <a:ahLst/>
            <a:cxnLst/>
            <a:rect l="l" t="t" r="r" b="b"/>
            <a:pathLst>
              <a:path w="4828636" h="4239778">
                <a:moveTo>
                  <a:pt x="0" y="0"/>
                </a:moveTo>
                <a:lnTo>
                  <a:pt x="4828636" y="0"/>
                </a:lnTo>
                <a:lnTo>
                  <a:pt x="4828636" y="4239778"/>
                </a:lnTo>
                <a:lnTo>
                  <a:pt x="0" y="4239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284381" y="3543300"/>
            <a:ext cx="8847326" cy="4257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just">
              <a:lnSpc>
                <a:spcPts val="4800"/>
              </a:lnSpc>
              <a:buFont typeface="Arial"/>
              <a:buChar char="•"/>
            </a:pPr>
            <a:r>
              <a:rPr lang="en-US" sz="3000" spc="297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query in natural language</a:t>
            </a:r>
          </a:p>
          <a:p>
            <a:pPr marL="647700" lvl="1" indent="-323850" algn="just">
              <a:lnSpc>
                <a:spcPts val="4800"/>
              </a:lnSpc>
              <a:buFont typeface="Arial"/>
              <a:buChar char="•"/>
            </a:pPr>
            <a:r>
              <a:rPr lang="en-US" sz="3000" spc="297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 converted into embeddings</a:t>
            </a:r>
          </a:p>
          <a:p>
            <a:pPr marL="647700" lvl="1" indent="-323850" algn="just">
              <a:lnSpc>
                <a:spcPts val="4800"/>
              </a:lnSpc>
              <a:buFont typeface="Arial"/>
              <a:buChar char="•"/>
            </a:pPr>
            <a:r>
              <a:rPr lang="en-US" sz="3000" spc="297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FAISS performs similarity search</a:t>
            </a:r>
          </a:p>
          <a:p>
            <a:pPr marL="647700" lvl="1" indent="-323850" algn="just">
              <a:lnSpc>
                <a:spcPts val="4800"/>
              </a:lnSpc>
              <a:buFont typeface="Arial"/>
              <a:buChar char="•"/>
            </a:pPr>
            <a:r>
              <a:rPr lang="en-US" sz="3000" spc="297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data retrieved from vector DB</a:t>
            </a:r>
          </a:p>
          <a:p>
            <a:pPr marL="647700" lvl="1" indent="-323850" algn="just">
              <a:lnSpc>
                <a:spcPts val="4800"/>
              </a:lnSpc>
              <a:buFont typeface="Arial"/>
              <a:buChar char="•"/>
            </a:pPr>
            <a:r>
              <a:rPr lang="en-US" sz="3000" spc="297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generates context-aware response</a:t>
            </a:r>
          </a:p>
          <a:p>
            <a:pPr marL="647700" lvl="1" indent="-323850" algn="just">
              <a:lnSpc>
                <a:spcPts val="4800"/>
              </a:lnSpc>
              <a:buFont typeface="Arial"/>
              <a:buChar char="•"/>
            </a:pPr>
            <a:r>
              <a:rPr lang="en-US" sz="3000" spc="297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Follow-up suggestions provided</a:t>
            </a:r>
          </a:p>
          <a:p>
            <a:pPr marL="0" lvl="0" indent="0" algn="just">
              <a:lnSpc>
                <a:spcPts val="4800"/>
              </a:lnSpc>
            </a:pPr>
            <a:endParaRPr lang="en-US" sz="3000" spc="297" dirty="0">
              <a:solidFill>
                <a:srgbClr val="42424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73146" y="-1125046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053282"/>
            <a:ext cx="9276939" cy="1049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85"/>
              </a:lnSpc>
              <a:spcBef>
                <a:spcPct val="0"/>
              </a:spcBef>
            </a:pPr>
            <a:r>
              <a:rPr lang="en-US" sz="5917" b="1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TECHNOLOGY STACK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72600" y="4185961"/>
            <a:ext cx="8674047" cy="3089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97"/>
              </a:lnSpc>
              <a:spcBef>
                <a:spcPct val="0"/>
              </a:spcBef>
            </a:pPr>
            <a:r>
              <a:rPr lang="en-US" sz="3498" dirty="0">
                <a:solidFill>
                  <a:srgbClr val="424242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Frontend: HTML, CSS, JavaScript / React</a:t>
            </a:r>
          </a:p>
          <a:p>
            <a:pPr algn="just">
              <a:lnSpc>
                <a:spcPts val="4897"/>
              </a:lnSpc>
              <a:spcBef>
                <a:spcPct val="0"/>
              </a:spcBef>
            </a:pPr>
            <a:r>
              <a:rPr lang="en-US" sz="3498" dirty="0">
                <a:solidFill>
                  <a:srgbClr val="424242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Backend: </a:t>
            </a:r>
            <a:r>
              <a:rPr lang="en-US" sz="3498" dirty="0" err="1">
                <a:solidFill>
                  <a:srgbClr val="424242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FastAPI</a:t>
            </a:r>
            <a:endParaRPr lang="en-US" sz="3498" dirty="0">
              <a:solidFill>
                <a:srgbClr val="424242"/>
              </a:solidFill>
              <a:latin typeface="Times New Roman" panose="02020603050405020304" pitchFamily="18" charset="0"/>
              <a:ea typeface="Agrandir"/>
              <a:cs typeface="Times New Roman" panose="02020603050405020304" pitchFamily="18" charset="0"/>
              <a:sym typeface="Agrandir"/>
            </a:endParaRPr>
          </a:p>
          <a:p>
            <a:pPr algn="just">
              <a:lnSpc>
                <a:spcPts val="4897"/>
              </a:lnSpc>
              <a:spcBef>
                <a:spcPct val="0"/>
              </a:spcBef>
            </a:pPr>
            <a:r>
              <a:rPr lang="en-US" sz="3498" dirty="0">
                <a:solidFill>
                  <a:srgbClr val="424242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AI Models: Sentence Transformers (</a:t>
            </a:r>
            <a:r>
              <a:rPr lang="en-US" sz="3498" dirty="0" err="1">
                <a:solidFill>
                  <a:srgbClr val="424242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MiniLM</a:t>
            </a:r>
            <a:r>
              <a:rPr lang="en-US" sz="3498" dirty="0">
                <a:solidFill>
                  <a:srgbClr val="424242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), FLAN-T5</a:t>
            </a:r>
          </a:p>
          <a:p>
            <a:pPr algn="just">
              <a:lnSpc>
                <a:spcPts val="4897"/>
              </a:lnSpc>
              <a:spcBef>
                <a:spcPct val="0"/>
              </a:spcBef>
            </a:pPr>
            <a:r>
              <a:rPr lang="en-US" sz="3498" dirty="0">
                <a:solidFill>
                  <a:srgbClr val="424242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Vector DB: FAISS</a:t>
            </a:r>
          </a:p>
        </p:txBody>
      </p:sp>
      <p:sp>
        <p:nvSpPr>
          <p:cNvPr id="5" name="Freeform 5"/>
          <p:cNvSpPr/>
          <p:nvPr/>
        </p:nvSpPr>
        <p:spPr>
          <a:xfrm>
            <a:off x="11242016" y="-79213"/>
            <a:ext cx="11554047" cy="10445426"/>
          </a:xfrm>
          <a:custGeom>
            <a:avLst/>
            <a:gdLst/>
            <a:ahLst/>
            <a:cxnLst/>
            <a:rect l="l" t="t" r="r" b="b"/>
            <a:pathLst>
              <a:path w="11554047" h="10445426">
                <a:moveTo>
                  <a:pt x="0" y="0"/>
                </a:moveTo>
                <a:lnTo>
                  <a:pt x="11554047" y="0"/>
                </a:lnTo>
                <a:lnTo>
                  <a:pt x="11554047" y="10445426"/>
                </a:lnTo>
                <a:lnTo>
                  <a:pt x="0" y="10445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306" b="-5306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70453" y="4577544"/>
            <a:ext cx="10661722" cy="9361512"/>
          </a:xfrm>
          <a:custGeom>
            <a:avLst/>
            <a:gdLst/>
            <a:ahLst/>
            <a:cxnLst/>
            <a:rect l="l" t="t" r="r" b="b"/>
            <a:pathLst>
              <a:path w="10661722" h="9361512">
                <a:moveTo>
                  <a:pt x="0" y="0"/>
                </a:moveTo>
                <a:lnTo>
                  <a:pt x="10661721" y="0"/>
                </a:lnTo>
                <a:lnTo>
                  <a:pt x="10661721" y="9361512"/>
                </a:lnTo>
                <a:lnTo>
                  <a:pt x="0" y="9361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41458" y="312618"/>
            <a:ext cx="3146355" cy="2762653"/>
          </a:xfrm>
          <a:custGeom>
            <a:avLst/>
            <a:gdLst/>
            <a:ahLst/>
            <a:cxnLst/>
            <a:rect l="l" t="t" r="r" b="b"/>
            <a:pathLst>
              <a:path w="3146355" h="2762653">
                <a:moveTo>
                  <a:pt x="0" y="0"/>
                </a:moveTo>
                <a:lnTo>
                  <a:pt x="3146355" y="0"/>
                </a:lnTo>
                <a:lnTo>
                  <a:pt x="3146355" y="2762653"/>
                </a:lnTo>
                <a:lnTo>
                  <a:pt x="0" y="27626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01461" y="3552889"/>
            <a:ext cx="7742539" cy="4176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23"/>
              </a:lnSpc>
            </a:pPr>
            <a:r>
              <a:rPr lang="en-US" sz="3945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>
              <a:lnSpc>
                <a:spcPts val="5523"/>
              </a:lnSpc>
              <a:spcBef>
                <a:spcPct val="0"/>
              </a:spcBef>
            </a:pPr>
            <a:r>
              <a:rPr lang="en-US" sz="3945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Query → Embedding → Vector DB (FAISS) → Retrieval (Cosine Similarity) → LLM Processing → Conversational Output with Follow-up Suggestions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14043" y="2230898"/>
            <a:ext cx="6254830" cy="10831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237"/>
              </a:lnSpc>
              <a:spcBef>
                <a:spcPct val="0"/>
              </a:spcBef>
            </a:pPr>
            <a:r>
              <a:rPr lang="en-US" sz="6598" b="1" dirty="0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RAG Pipeline:</a:t>
            </a:r>
          </a:p>
        </p:txBody>
      </p:sp>
      <p:sp>
        <p:nvSpPr>
          <p:cNvPr id="6" name="Freeform 6"/>
          <p:cNvSpPr/>
          <p:nvPr/>
        </p:nvSpPr>
        <p:spPr>
          <a:xfrm>
            <a:off x="11242016" y="-79213"/>
            <a:ext cx="11554047" cy="10445426"/>
          </a:xfrm>
          <a:custGeom>
            <a:avLst/>
            <a:gdLst/>
            <a:ahLst/>
            <a:cxnLst/>
            <a:rect l="l" t="t" r="r" b="b"/>
            <a:pathLst>
              <a:path w="11554047" h="10445426">
                <a:moveTo>
                  <a:pt x="0" y="0"/>
                </a:moveTo>
                <a:lnTo>
                  <a:pt x="11554047" y="0"/>
                </a:lnTo>
                <a:lnTo>
                  <a:pt x="11554047" y="10445426"/>
                </a:lnTo>
                <a:lnTo>
                  <a:pt x="0" y="10445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306" b="-5306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5838" y="3086794"/>
            <a:ext cx="2141991" cy="2418398"/>
            <a:chOff x="0" y="0"/>
            <a:chExt cx="812800" cy="9176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917685"/>
            </a:xfrm>
            <a:custGeom>
              <a:avLst/>
              <a:gdLst/>
              <a:ahLst/>
              <a:cxnLst/>
              <a:rect l="l" t="t" r="r" b="b"/>
              <a:pathLst>
                <a:path w="812800" h="917685">
                  <a:moveTo>
                    <a:pt x="83130" y="0"/>
                  </a:moveTo>
                  <a:lnTo>
                    <a:pt x="729670" y="0"/>
                  </a:lnTo>
                  <a:cubicBezTo>
                    <a:pt x="751717" y="0"/>
                    <a:pt x="772862" y="8758"/>
                    <a:pt x="788452" y="24348"/>
                  </a:cubicBezTo>
                  <a:cubicBezTo>
                    <a:pt x="804042" y="39938"/>
                    <a:pt x="812800" y="61083"/>
                    <a:pt x="812800" y="83130"/>
                  </a:cubicBezTo>
                  <a:lnTo>
                    <a:pt x="812800" y="834555"/>
                  </a:lnTo>
                  <a:cubicBezTo>
                    <a:pt x="812800" y="880466"/>
                    <a:pt x="775581" y="917685"/>
                    <a:pt x="729670" y="917685"/>
                  </a:cubicBezTo>
                  <a:lnTo>
                    <a:pt x="83130" y="917685"/>
                  </a:lnTo>
                  <a:cubicBezTo>
                    <a:pt x="61083" y="917685"/>
                    <a:pt x="39938" y="908927"/>
                    <a:pt x="24348" y="893337"/>
                  </a:cubicBezTo>
                  <a:cubicBezTo>
                    <a:pt x="8758" y="877747"/>
                    <a:pt x="0" y="856602"/>
                    <a:pt x="0" y="834555"/>
                  </a:cubicBezTo>
                  <a:lnTo>
                    <a:pt x="0" y="83130"/>
                  </a:lnTo>
                  <a:cubicBezTo>
                    <a:pt x="0" y="61083"/>
                    <a:pt x="8758" y="39938"/>
                    <a:pt x="24348" y="24348"/>
                  </a:cubicBezTo>
                  <a:cubicBezTo>
                    <a:pt x="39938" y="8758"/>
                    <a:pt x="61083" y="0"/>
                    <a:pt x="83130" y="0"/>
                  </a:cubicBezTo>
                  <a:close/>
                </a:path>
              </a:pathLst>
            </a:custGeom>
            <a:blipFill>
              <a:blip r:embed="rId2"/>
              <a:stretch>
                <a:fillRect t="-4757" b="-475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859285" y="3086794"/>
            <a:ext cx="2141991" cy="2418398"/>
            <a:chOff x="0" y="0"/>
            <a:chExt cx="812800" cy="9176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917685"/>
            </a:xfrm>
            <a:custGeom>
              <a:avLst/>
              <a:gdLst/>
              <a:ahLst/>
              <a:cxnLst/>
              <a:rect l="l" t="t" r="r" b="b"/>
              <a:pathLst>
                <a:path w="812800" h="917685">
                  <a:moveTo>
                    <a:pt x="83130" y="0"/>
                  </a:moveTo>
                  <a:lnTo>
                    <a:pt x="729670" y="0"/>
                  </a:lnTo>
                  <a:cubicBezTo>
                    <a:pt x="751717" y="0"/>
                    <a:pt x="772862" y="8758"/>
                    <a:pt x="788452" y="24348"/>
                  </a:cubicBezTo>
                  <a:cubicBezTo>
                    <a:pt x="804042" y="39938"/>
                    <a:pt x="812800" y="61083"/>
                    <a:pt x="812800" y="83130"/>
                  </a:cubicBezTo>
                  <a:lnTo>
                    <a:pt x="812800" y="834555"/>
                  </a:lnTo>
                  <a:cubicBezTo>
                    <a:pt x="812800" y="880466"/>
                    <a:pt x="775581" y="917685"/>
                    <a:pt x="729670" y="917685"/>
                  </a:cubicBezTo>
                  <a:lnTo>
                    <a:pt x="83130" y="917685"/>
                  </a:lnTo>
                  <a:cubicBezTo>
                    <a:pt x="61083" y="917685"/>
                    <a:pt x="39938" y="908927"/>
                    <a:pt x="24348" y="893337"/>
                  </a:cubicBezTo>
                  <a:cubicBezTo>
                    <a:pt x="8758" y="877747"/>
                    <a:pt x="0" y="856602"/>
                    <a:pt x="0" y="834555"/>
                  </a:cubicBezTo>
                  <a:lnTo>
                    <a:pt x="0" y="83130"/>
                  </a:lnTo>
                  <a:cubicBezTo>
                    <a:pt x="0" y="61083"/>
                    <a:pt x="8758" y="39938"/>
                    <a:pt x="24348" y="24348"/>
                  </a:cubicBezTo>
                  <a:cubicBezTo>
                    <a:pt x="39938" y="8758"/>
                    <a:pt x="61083" y="0"/>
                    <a:pt x="83130" y="0"/>
                  </a:cubicBezTo>
                  <a:close/>
                </a:path>
              </a:pathLst>
            </a:custGeom>
            <a:blipFill>
              <a:blip r:embed="rId3"/>
              <a:stretch>
                <a:fillRect t="-4757" b="-475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-2864399" y="5949127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45838" y="6392498"/>
            <a:ext cx="2141991" cy="2418398"/>
            <a:chOff x="0" y="0"/>
            <a:chExt cx="812800" cy="9176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917685"/>
            </a:xfrm>
            <a:custGeom>
              <a:avLst/>
              <a:gdLst/>
              <a:ahLst/>
              <a:cxnLst/>
              <a:rect l="l" t="t" r="r" b="b"/>
              <a:pathLst>
                <a:path w="812800" h="917685">
                  <a:moveTo>
                    <a:pt x="83130" y="0"/>
                  </a:moveTo>
                  <a:lnTo>
                    <a:pt x="729670" y="0"/>
                  </a:lnTo>
                  <a:cubicBezTo>
                    <a:pt x="751717" y="0"/>
                    <a:pt x="772862" y="8758"/>
                    <a:pt x="788452" y="24348"/>
                  </a:cubicBezTo>
                  <a:cubicBezTo>
                    <a:pt x="804042" y="39938"/>
                    <a:pt x="812800" y="61083"/>
                    <a:pt x="812800" y="83130"/>
                  </a:cubicBezTo>
                  <a:lnTo>
                    <a:pt x="812800" y="834555"/>
                  </a:lnTo>
                  <a:cubicBezTo>
                    <a:pt x="812800" y="880466"/>
                    <a:pt x="775581" y="917685"/>
                    <a:pt x="729670" y="917685"/>
                  </a:cubicBezTo>
                  <a:lnTo>
                    <a:pt x="83130" y="917685"/>
                  </a:lnTo>
                  <a:cubicBezTo>
                    <a:pt x="61083" y="917685"/>
                    <a:pt x="39938" y="908927"/>
                    <a:pt x="24348" y="893337"/>
                  </a:cubicBezTo>
                  <a:cubicBezTo>
                    <a:pt x="8758" y="877747"/>
                    <a:pt x="0" y="856602"/>
                    <a:pt x="0" y="834555"/>
                  </a:cubicBezTo>
                  <a:lnTo>
                    <a:pt x="0" y="83130"/>
                  </a:lnTo>
                  <a:cubicBezTo>
                    <a:pt x="0" y="61083"/>
                    <a:pt x="8758" y="39938"/>
                    <a:pt x="24348" y="24348"/>
                  </a:cubicBezTo>
                  <a:cubicBezTo>
                    <a:pt x="39938" y="8758"/>
                    <a:pt x="61083" y="0"/>
                    <a:pt x="83130" y="0"/>
                  </a:cubicBezTo>
                  <a:close/>
                </a:path>
              </a:pathLst>
            </a:custGeom>
            <a:blipFill>
              <a:blip r:embed="rId5"/>
              <a:stretch>
                <a:fillRect t="-4757" b="-4757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859285" y="6392498"/>
            <a:ext cx="2141991" cy="2418398"/>
            <a:chOff x="0" y="0"/>
            <a:chExt cx="812800" cy="9176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917685"/>
            </a:xfrm>
            <a:custGeom>
              <a:avLst/>
              <a:gdLst/>
              <a:ahLst/>
              <a:cxnLst/>
              <a:rect l="l" t="t" r="r" b="b"/>
              <a:pathLst>
                <a:path w="812800" h="917685">
                  <a:moveTo>
                    <a:pt x="83130" y="0"/>
                  </a:moveTo>
                  <a:lnTo>
                    <a:pt x="729670" y="0"/>
                  </a:lnTo>
                  <a:cubicBezTo>
                    <a:pt x="751717" y="0"/>
                    <a:pt x="772862" y="8758"/>
                    <a:pt x="788452" y="24348"/>
                  </a:cubicBezTo>
                  <a:cubicBezTo>
                    <a:pt x="804042" y="39938"/>
                    <a:pt x="812800" y="61083"/>
                    <a:pt x="812800" y="83130"/>
                  </a:cubicBezTo>
                  <a:lnTo>
                    <a:pt x="812800" y="834555"/>
                  </a:lnTo>
                  <a:cubicBezTo>
                    <a:pt x="812800" y="880466"/>
                    <a:pt x="775581" y="917685"/>
                    <a:pt x="729670" y="917685"/>
                  </a:cubicBezTo>
                  <a:lnTo>
                    <a:pt x="83130" y="917685"/>
                  </a:lnTo>
                  <a:cubicBezTo>
                    <a:pt x="61083" y="917685"/>
                    <a:pt x="39938" y="908927"/>
                    <a:pt x="24348" y="893337"/>
                  </a:cubicBezTo>
                  <a:cubicBezTo>
                    <a:pt x="8758" y="877747"/>
                    <a:pt x="0" y="856602"/>
                    <a:pt x="0" y="834555"/>
                  </a:cubicBezTo>
                  <a:lnTo>
                    <a:pt x="0" y="83130"/>
                  </a:lnTo>
                  <a:cubicBezTo>
                    <a:pt x="0" y="61083"/>
                    <a:pt x="8758" y="39938"/>
                    <a:pt x="24348" y="24348"/>
                  </a:cubicBezTo>
                  <a:cubicBezTo>
                    <a:pt x="39938" y="8758"/>
                    <a:pt x="61083" y="0"/>
                    <a:pt x="83130" y="0"/>
                  </a:cubicBezTo>
                  <a:close/>
                </a:path>
              </a:pathLst>
            </a:custGeom>
            <a:blipFill>
              <a:blip r:embed="rId6"/>
              <a:stretch>
                <a:fillRect t="-4757" b="-4757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2673146" y="-1125046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921383" y="904875"/>
            <a:ext cx="6445235" cy="1094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91"/>
              </a:lnSpc>
              <a:spcBef>
                <a:spcPct val="0"/>
              </a:spcBef>
            </a:pPr>
            <a:r>
              <a:rPr lang="en-US" sz="6422">
                <a:solidFill>
                  <a:srgbClr val="424242"/>
                </a:solidFill>
                <a:latin typeface="Times New Roman" panose="02020603050405020304" pitchFamily="18" charset="0"/>
                <a:ea typeface="Maragsa"/>
                <a:cs typeface="Times New Roman" panose="02020603050405020304" pitchFamily="18" charset="0"/>
                <a:sym typeface="Maragsa"/>
              </a:rPr>
              <a:t>KEY FEATURES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26926" y="3701792"/>
            <a:ext cx="4631429" cy="1309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424242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Natural, human-like answers with deep context understanding for seamless interaction.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26926" y="2972494"/>
            <a:ext cx="4631429" cy="41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7"/>
              </a:lnSpc>
              <a:spcBef>
                <a:spcPct val="0"/>
              </a:spcBef>
            </a:pPr>
            <a:r>
              <a:rPr lang="en-US" sz="2498" b="1" u="none" strike="noStrike">
                <a:solidFill>
                  <a:srgbClr val="424242"/>
                </a:solidFill>
                <a:latin typeface="Times New Roman" panose="02020603050405020304" pitchFamily="18" charset="0"/>
                <a:ea typeface="Agrandir Bold"/>
                <a:cs typeface="Times New Roman" panose="02020603050405020304" pitchFamily="18" charset="0"/>
                <a:sym typeface="Agrandir Bold"/>
              </a:rPr>
              <a:t>Conversational Responses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26926" y="7007495"/>
            <a:ext cx="4384408" cy="1309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424242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Proactive question recommendations that enhance user engagement and discovery.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26926" y="6278198"/>
            <a:ext cx="4384408" cy="41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7"/>
              </a:lnSpc>
              <a:spcBef>
                <a:spcPct val="0"/>
              </a:spcBef>
            </a:pPr>
            <a:r>
              <a:rPr lang="en-US" sz="2498" b="1" u="none" strike="noStrike">
                <a:solidFill>
                  <a:srgbClr val="424242"/>
                </a:solidFill>
                <a:latin typeface="Times New Roman" panose="02020603050405020304" pitchFamily="18" charset="0"/>
                <a:ea typeface="Agrandir Bold"/>
                <a:cs typeface="Times New Roman" panose="02020603050405020304" pitchFamily="18" charset="0"/>
                <a:sym typeface="Agrandir Bold"/>
              </a:rPr>
              <a:t>Follow-up Suggestions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57753" y="3701792"/>
            <a:ext cx="4384408" cy="1309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7"/>
              </a:lnSpc>
              <a:spcBef>
                <a:spcPct val="0"/>
              </a:spcBef>
            </a:pPr>
            <a:r>
              <a:rPr lang="en-US" sz="2498" dirty="0">
                <a:solidFill>
                  <a:srgbClr val="424242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Maintains conversation history and understands follow-up questions intelligently.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57753" y="2972494"/>
            <a:ext cx="4384408" cy="41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7"/>
              </a:lnSpc>
              <a:spcBef>
                <a:spcPct val="0"/>
              </a:spcBef>
            </a:pPr>
            <a:r>
              <a:rPr lang="en-US" sz="2498" b="1" u="none" strike="noStrike">
                <a:solidFill>
                  <a:srgbClr val="424242"/>
                </a:solidFill>
                <a:latin typeface="Times New Roman" panose="02020603050405020304" pitchFamily="18" charset="0"/>
                <a:ea typeface="Agrandir Bold"/>
                <a:cs typeface="Times New Roman" panose="02020603050405020304" pitchFamily="18" charset="0"/>
                <a:sym typeface="Agrandir Bold"/>
              </a:rPr>
              <a:t>Context-aware Answers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57753" y="7007495"/>
            <a:ext cx="4384408" cy="2207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7"/>
              </a:lnSpc>
              <a:spcBef>
                <a:spcPct val="0"/>
              </a:spcBef>
            </a:pPr>
            <a:r>
              <a:rPr lang="en-US" sz="2400" dirty="0">
                <a:solidFill>
                  <a:srgbClr val="424242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Sub-second response time with efficient vector search powered by FAISS technology and Short-term memory, API-based system (/chat endpoint)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57753" y="6278198"/>
            <a:ext cx="4384408" cy="41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7"/>
              </a:lnSpc>
              <a:spcBef>
                <a:spcPct val="0"/>
              </a:spcBef>
            </a:pPr>
            <a:r>
              <a:rPr lang="en-US" sz="2498" b="1" u="none" strike="noStrike">
                <a:solidFill>
                  <a:srgbClr val="424242"/>
                </a:solidFill>
                <a:latin typeface="Times New Roman" panose="02020603050405020304" pitchFamily="18" charset="0"/>
                <a:ea typeface="Agrandir Bold"/>
                <a:cs typeface="Times New Roman" panose="02020603050405020304" pitchFamily="18" charset="0"/>
                <a:sym typeface="Agrandir Bold"/>
              </a:rPr>
              <a:t>Fast Retrieval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3535" y="5143500"/>
            <a:ext cx="6292709" cy="5525306"/>
          </a:xfrm>
          <a:custGeom>
            <a:avLst/>
            <a:gdLst/>
            <a:ahLst/>
            <a:cxnLst/>
            <a:rect l="l" t="t" r="r" b="b"/>
            <a:pathLst>
              <a:path w="6292709" h="5525306">
                <a:moveTo>
                  <a:pt x="0" y="0"/>
                </a:moveTo>
                <a:lnTo>
                  <a:pt x="6292710" y="0"/>
                </a:lnTo>
                <a:lnTo>
                  <a:pt x="6292710" y="5525306"/>
                </a:lnTo>
                <a:lnTo>
                  <a:pt x="0" y="5525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41458" y="312618"/>
            <a:ext cx="3146355" cy="2762653"/>
          </a:xfrm>
          <a:custGeom>
            <a:avLst/>
            <a:gdLst/>
            <a:ahLst/>
            <a:cxnLst/>
            <a:rect l="l" t="t" r="r" b="b"/>
            <a:pathLst>
              <a:path w="3146355" h="2762653">
                <a:moveTo>
                  <a:pt x="0" y="0"/>
                </a:moveTo>
                <a:lnTo>
                  <a:pt x="3146355" y="0"/>
                </a:lnTo>
                <a:lnTo>
                  <a:pt x="3146355" y="2762653"/>
                </a:lnTo>
                <a:lnTo>
                  <a:pt x="0" y="27626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78779" y="3245493"/>
            <a:ext cx="13701585" cy="525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4265" lvl="1" indent="-402133" algn="l">
              <a:lnSpc>
                <a:spcPts val="5215"/>
              </a:lnSpc>
              <a:spcBef>
                <a:spcPct val="0"/>
              </a:spcBef>
              <a:buFont typeface="Arial"/>
              <a:buChar char="•"/>
            </a:pPr>
            <a:r>
              <a:rPr lang="en-US" sz="3725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 and FAQ structuring</a:t>
            </a:r>
          </a:p>
          <a:p>
            <a:pPr marL="804265" lvl="1" indent="-402133" algn="l">
              <a:lnSpc>
                <a:spcPts val="5215"/>
              </a:lnSpc>
              <a:spcBef>
                <a:spcPct val="0"/>
              </a:spcBef>
              <a:buFont typeface="Arial"/>
              <a:buChar char="•"/>
            </a:pPr>
            <a:r>
              <a:rPr lang="en-US" sz="3725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Embedding generation using transformer model</a:t>
            </a:r>
          </a:p>
          <a:p>
            <a:pPr marL="804265" lvl="1" indent="-402133" algn="l">
              <a:lnSpc>
                <a:spcPts val="5215"/>
              </a:lnSpc>
              <a:spcBef>
                <a:spcPct val="0"/>
              </a:spcBef>
              <a:buFont typeface="Arial"/>
              <a:buChar char="•"/>
            </a:pPr>
            <a:r>
              <a:rPr lang="en-US" sz="3725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in FAISS vector database</a:t>
            </a:r>
          </a:p>
          <a:p>
            <a:pPr marL="804265" lvl="1" indent="-402133" algn="l">
              <a:lnSpc>
                <a:spcPts val="5215"/>
              </a:lnSpc>
              <a:spcBef>
                <a:spcPct val="0"/>
              </a:spcBef>
              <a:buFont typeface="Arial"/>
              <a:buChar char="•"/>
            </a:pPr>
            <a:r>
              <a:rPr lang="en-US" sz="3725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Similarity search using cosine similarity</a:t>
            </a:r>
          </a:p>
          <a:p>
            <a:pPr marL="804265" lvl="1" indent="-402133" algn="l">
              <a:lnSpc>
                <a:spcPts val="5215"/>
              </a:lnSpc>
              <a:spcBef>
                <a:spcPct val="0"/>
              </a:spcBef>
              <a:buFont typeface="Arial"/>
              <a:buChar char="•"/>
            </a:pPr>
            <a:r>
              <a:rPr lang="en-US" sz="3725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 top-k relevant results</a:t>
            </a:r>
          </a:p>
          <a:p>
            <a:pPr marL="804265" lvl="1" indent="-402133" algn="l">
              <a:lnSpc>
                <a:spcPts val="5215"/>
              </a:lnSpc>
              <a:spcBef>
                <a:spcPct val="0"/>
              </a:spcBef>
              <a:buFont typeface="Arial"/>
              <a:buChar char="•"/>
            </a:pPr>
            <a:r>
              <a:rPr lang="en-US" sz="3725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generates contextual response</a:t>
            </a:r>
          </a:p>
          <a:p>
            <a:pPr marL="804265" lvl="1" indent="-402133" algn="l">
              <a:lnSpc>
                <a:spcPts val="5215"/>
              </a:lnSpc>
              <a:spcBef>
                <a:spcPct val="0"/>
              </a:spcBef>
              <a:buFont typeface="Arial"/>
              <a:buChar char="•"/>
            </a:pPr>
            <a:r>
              <a:rPr lang="en-US" sz="3725" dirty="0">
                <a:solidFill>
                  <a:srgbClr val="424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Follow-up suggestions provided</a:t>
            </a:r>
          </a:p>
          <a:p>
            <a:pPr algn="l">
              <a:lnSpc>
                <a:spcPts val="5215"/>
              </a:lnSpc>
              <a:spcBef>
                <a:spcPct val="0"/>
              </a:spcBef>
            </a:pPr>
            <a:endParaRPr lang="en-US" sz="3725" dirty="0">
              <a:solidFill>
                <a:srgbClr val="42424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78779" y="1263238"/>
            <a:ext cx="6555621" cy="10831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237"/>
              </a:lnSpc>
              <a:spcBef>
                <a:spcPct val="0"/>
              </a:spcBef>
            </a:pPr>
            <a:r>
              <a:rPr lang="en-US" sz="6598" b="1" dirty="0">
                <a:solidFill>
                  <a:srgbClr val="4242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076508" y="1425163"/>
            <a:ext cx="3207712" cy="320771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511" y="0"/>
                  </a:moveTo>
                  <a:lnTo>
                    <a:pt x="757289" y="0"/>
                  </a:lnTo>
                  <a:cubicBezTo>
                    <a:pt x="772011" y="0"/>
                    <a:pt x="786131" y="5848"/>
                    <a:pt x="796541" y="16259"/>
                  </a:cubicBezTo>
                  <a:cubicBezTo>
                    <a:pt x="806952" y="26669"/>
                    <a:pt x="812800" y="40789"/>
                    <a:pt x="812800" y="55511"/>
                  </a:cubicBezTo>
                  <a:lnTo>
                    <a:pt x="812800" y="757289"/>
                  </a:lnTo>
                  <a:cubicBezTo>
                    <a:pt x="812800" y="772011"/>
                    <a:pt x="806952" y="786131"/>
                    <a:pt x="796541" y="796541"/>
                  </a:cubicBezTo>
                  <a:cubicBezTo>
                    <a:pt x="786131" y="806952"/>
                    <a:pt x="772011" y="812800"/>
                    <a:pt x="757289" y="812800"/>
                  </a:cubicBezTo>
                  <a:lnTo>
                    <a:pt x="55511" y="812800"/>
                  </a:lnTo>
                  <a:cubicBezTo>
                    <a:pt x="40789" y="812800"/>
                    <a:pt x="26669" y="806952"/>
                    <a:pt x="16259" y="796541"/>
                  </a:cubicBezTo>
                  <a:cubicBezTo>
                    <a:pt x="5848" y="786131"/>
                    <a:pt x="0" y="772011"/>
                    <a:pt x="0" y="757289"/>
                  </a:cubicBezTo>
                  <a:lnTo>
                    <a:pt x="0" y="55511"/>
                  </a:lnTo>
                  <a:cubicBezTo>
                    <a:pt x="0" y="40789"/>
                    <a:pt x="5848" y="26669"/>
                    <a:pt x="16259" y="16259"/>
                  </a:cubicBezTo>
                  <a:cubicBezTo>
                    <a:pt x="26669" y="5848"/>
                    <a:pt x="40789" y="0"/>
                    <a:pt x="55511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131908" y="6562342"/>
            <a:ext cx="3131099" cy="313109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6870" y="0"/>
                  </a:moveTo>
                  <a:lnTo>
                    <a:pt x="755930" y="0"/>
                  </a:lnTo>
                  <a:cubicBezTo>
                    <a:pt x="771013" y="0"/>
                    <a:pt x="785478" y="5992"/>
                    <a:pt x="796143" y="16657"/>
                  </a:cubicBezTo>
                  <a:cubicBezTo>
                    <a:pt x="806808" y="27322"/>
                    <a:pt x="812800" y="41787"/>
                    <a:pt x="812800" y="56870"/>
                  </a:cubicBezTo>
                  <a:lnTo>
                    <a:pt x="812800" y="755930"/>
                  </a:lnTo>
                  <a:cubicBezTo>
                    <a:pt x="812800" y="771013"/>
                    <a:pt x="806808" y="785478"/>
                    <a:pt x="796143" y="796143"/>
                  </a:cubicBezTo>
                  <a:cubicBezTo>
                    <a:pt x="785478" y="806808"/>
                    <a:pt x="771013" y="812800"/>
                    <a:pt x="755930" y="812800"/>
                  </a:cubicBezTo>
                  <a:lnTo>
                    <a:pt x="56870" y="812800"/>
                  </a:lnTo>
                  <a:cubicBezTo>
                    <a:pt x="41787" y="812800"/>
                    <a:pt x="27322" y="806808"/>
                    <a:pt x="16657" y="796143"/>
                  </a:cubicBezTo>
                  <a:cubicBezTo>
                    <a:pt x="5992" y="785478"/>
                    <a:pt x="0" y="771013"/>
                    <a:pt x="0" y="755930"/>
                  </a:cubicBezTo>
                  <a:lnTo>
                    <a:pt x="0" y="56870"/>
                  </a:lnTo>
                  <a:cubicBezTo>
                    <a:pt x="0" y="41787"/>
                    <a:pt x="5992" y="27322"/>
                    <a:pt x="16657" y="16657"/>
                  </a:cubicBezTo>
                  <a:cubicBezTo>
                    <a:pt x="27322" y="5992"/>
                    <a:pt x="41787" y="0"/>
                    <a:pt x="5687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71748" y="0"/>
            <a:ext cx="4032504" cy="4114800"/>
          </a:xfrm>
          <a:custGeom>
            <a:avLst/>
            <a:gdLst/>
            <a:ahLst/>
            <a:cxnLst/>
            <a:rect l="l" t="t" r="r" b="b"/>
            <a:pathLst>
              <a:path w="4032504" h="4114800">
                <a:moveTo>
                  <a:pt x="0" y="0"/>
                </a:moveTo>
                <a:lnTo>
                  <a:pt x="4032504" y="0"/>
                </a:lnTo>
                <a:lnTo>
                  <a:pt x="4032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16252" y="-709744"/>
            <a:ext cx="4032504" cy="4114800"/>
          </a:xfrm>
          <a:custGeom>
            <a:avLst/>
            <a:gdLst/>
            <a:ahLst/>
            <a:cxnLst/>
            <a:rect l="l" t="t" r="r" b="b"/>
            <a:pathLst>
              <a:path w="4032504" h="4114800">
                <a:moveTo>
                  <a:pt x="0" y="0"/>
                </a:moveTo>
                <a:lnTo>
                  <a:pt x="4032504" y="0"/>
                </a:lnTo>
                <a:lnTo>
                  <a:pt x="4032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551268" y="1223831"/>
            <a:ext cx="5185463" cy="1094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91"/>
              </a:lnSpc>
              <a:spcBef>
                <a:spcPct val="0"/>
              </a:spcBef>
            </a:pPr>
            <a:r>
              <a:rPr lang="en-US" sz="6422">
                <a:solidFill>
                  <a:srgbClr val="424242"/>
                </a:solidFill>
                <a:latin typeface="Times New Roman" panose="02020603050405020304" pitchFamily="18" charset="0"/>
                <a:ea typeface="Maragsa"/>
                <a:cs typeface="Times New Roman" panose="02020603050405020304" pitchFamily="18" charset="0"/>
                <a:sym typeface="Maragsa"/>
              </a:rPr>
              <a:t>RESULTS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12859" y="2309401"/>
            <a:ext cx="12662283" cy="52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  <a:spcBef>
                <a:spcPct val="0"/>
              </a:spcBef>
            </a:pPr>
            <a:r>
              <a:rPr lang="en-US" sz="3199" b="1" u="none" strike="noStrike">
                <a:solidFill>
                  <a:srgbClr val="424242"/>
                </a:solidFill>
                <a:latin typeface="Times New Roman" panose="02020603050405020304" pitchFamily="18" charset="0"/>
                <a:ea typeface="Agrandir Bold"/>
                <a:cs typeface="Times New Roman" panose="02020603050405020304" pitchFamily="18" charset="0"/>
                <a:sym typeface="Agrandir Bold"/>
              </a:rPr>
              <a:t>FAQFlow AI Performance Metrics &amp; Key Statistics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73841" y="3211559"/>
            <a:ext cx="16230600" cy="3866512"/>
            <a:chOff x="0" y="-47625"/>
            <a:chExt cx="21640800" cy="5155348"/>
          </a:xfrm>
        </p:grpSpPr>
        <p:sp>
          <p:nvSpPr>
            <p:cNvPr id="7" name="AutoShape 7"/>
            <p:cNvSpPr/>
            <p:nvPr/>
          </p:nvSpPr>
          <p:spPr>
            <a:xfrm flipV="1">
              <a:off x="19822898" y="2300771"/>
              <a:ext cx="0" cy="2746369"/>
            </a:xfrm>
            <a:prstGeom prst="line">
              <a:avLst/>
            </a:prstGeom>
            <a:ln w="50800" cap="flat">
              <a:solidFill>
                <a:srgbClr val="424242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8" name="AutoShape 8"/>
            <p:cNvSpPr/>
            <p:nvPr/>
          </p:nvSpPr>
          <p:spPr>
            <a:xfrm flipV="1">
              <a:off x="0" y="5075985"/>
              <a:ext cx="21640800" cy="0"/>
            </a:xfrm>
            <a:prstGeom prst="line">
              <a:avLst/>
            </a:prstGeom>
            <a:ln w="50800" cap="flat">
              <a:solidFill>
                <a:srgbClr val="42424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" name="AutoShape 9"/>
            <p:cNvSpPr/>
            <p:nvPr/>
          </p:nvSpPr>
          <p:spPr>
            <a:xfrm flipV="1">
              <a:off x="1436316" y="1709107"/>
              <a:ext cx="0" cy="3398616"/>
            </a:xfrm>
            <a:prstGeom prst="line">
              <a:avLst/>
            </a:prstGeom>
            <a:ln w="50800" cap="flat">
              <a:solidFill>
                <a:srgbClr val="424242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0" name="AutoShape 10"/>
            <p:cNvSpPr/>
            <p:nvPr/>
          </p:nvSpPr>
          <p:spPr>
            <a:xfrm flipH="1" flipV="1">
              <a:off x="5745366" y="4163583"/>
              <a:ext cx="0" cy="944139"/>
            </a:xfrm>
            <a:prstGeom prst="line">
              <a:avLst/>
            </a:prstGeom>
            <a:ln w="50800" cap="flat">
              <a:solidFill>
                <a:srgbClr val="424242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" name="AutoShape 11"/>
            <p:cNvSpPr/>
            <p:nvPr/>
          </p:nvSpPr>
          <p:spPr>
            <a:xfrm flipH="1" flipV="1">
              <a:off x="10700250" y="2832318"/>
              <a:ext cx="0" cy="2275404"/>
            </a:xfrm>
            <a:prstGeom prst="line">
              <a:avLst/>
            </a:prstGeom>
            <a:ln w="50800" cap="flat">
              <a:solidFill>
                <a:srgbClr val="424242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2" name="AutoShape 12"/>
            <p:cNvSpPr/>
            <p:nvPr/>
          </p:nvSpPr>
          <p:spPr>
            <a:xfrm flipV="1">
              <a:off x="15005550" y="3581618"/>
              <a:ext cx="0" cy="1465522"/>
            </a:xfrm>
            <a:prstGeom prst="line">
              <a:avLst/>
            </a:prstGeom>
            <a:ln w="50800" cap="flat">
              <a:solidFill>
                <a:srgbClr val="424242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461716" cy="626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197"/>
                </a:lnSpc>
                <a:spcBef>
                  <a:spcPct val="0"/>
                </a:spcBef>
              </a:pPr>
              <a:r>
                <a:rPr lang="en-US" sz="2200" b="1" u="none" strike="noStrike">
                  <a:solidFill>
                    <a:srgbClr val="424242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92%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821236"/>
              <a:ext cx="3421827" cy="393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310"/>
                </a:lnSpc>
                <a:spcBef>
                  <a:spcPct val="0"/>
                </a:spcBef>
              </a:pPr>
              <a:r>
                <a:rPr lang="en-US" sz="2200" b="1" u="none" strike="noStrike" dirty="0">
                  <a:solidFill>
                    <a:srgbClr val="424242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Answer Accuracy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055796" y="1356219"/>
              <a:ext cx="3585004" cy="393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310"/>
                </a:lnSpc>
                <a:spcBef>
                  <a:spcPct val="0"/>
                </a:spcBef>
              </a:pPr>
              <a:r>
                <a:rPr lang="en-US" sz="2200" b="1" u="none" strike="noStrike">
                  <a:solidFill>
                    <a:srgbClr val="424242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Concurrent Users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055796" y="644509"/>
              <a:ext cx="3585004" cy="626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197"/>
                </a:lnSpc>
                <a:spcBef>
                  <a:spcPct val="0"/>
                </a:spcBef>
              </a:pPr>
              <a:r>
                <a:rPr lang="en-US" sz="2200" b="1" u="none" strike="noStrike">
                  <a:solidFill>
                    <a:srgbClr val="424242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100+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400893" y="2794218"/>
              <a:ext cx="1909177" cy="7865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just">
                <a:lnSpc>
                  <a:spcPts val="2310"/>
                </a:lnSpc>
                <a:spcBef>
                  <a:spcPct val="0"/>
                </a:spcBef>
              </a:pPr>
              <a:r>
                <a:rPr lang="en-US" sz="2200" b="1" u="none" strike="noStrike" dirty="0">
                  <a:solidFill>
                    <a:srgbClr val="424242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User Satisfaction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00895" y="2018482"/>
              <a:ext cx="1669395" cy="626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197"/>
                </a:lnSpc>
                <a:spcBef>
                  <a:spcPct val="0"/>
                </a:spcBef>
              </a:pPr>
              <a:r>
                <a:rPr lang="en-US" sz="2200" b="1" u="none" strike="noStrike">
                  <a:solidFill>
                    <a:srgbClr val="424242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85%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26347" y="3293751"/>
              <a:ext cx="2733111" cy="393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310"/>
                </a:lnSpc>
                <a:spcBef>
                  <a:spcPct val="0"/>
                </a:spcBef>
              </a:pPr>
              <a:r>
                <a:rPr lang="en-US" sz="2200" b="1" u="none" strike="noStrike">
                  <a:solidFill>
                    <a:srgbClr val="424242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Response Time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26347" y="2518014"/>
              <a:ext cx="2733111" cy="626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197"/>
                </a:lnSpc>
                <a:spcBef>
                  <a:spcPct val="0"/>
                </a:spcBef>
              </a:pPr>
              <a:r>
                <a:rPr lang="en-US" sz="2200" b="1" u="none" strike="noStrike">
                  <a:solidFill>
                    <a:srgbClr val="424242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0.8s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75893" y="2012904"/>
              <a:ext cx="2699512" cy="393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310"/>
                </a:lnSpc>
                <a:spcBef>
                  <a:spcPct val="0"/>
                </a:spcBef>
              </a:pPr>
              <a:r>
                <a:rPr lang="en-US" sz="2200" b="1" u="none" strike="noStrike">
                  <a:solidFill>
                    <a:srgbClr val="424242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Top-K Retrieval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75893" y="1301195"/>
              <a:ext cx="2699512" cy="626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197"/>
                </a:lnSpc>
                <a:spcBef>
                  <a:spcPct val="0"/>
                </a:spcBef>
              </a:pPr>
              <a:r>
                <a:rPr lang="en-US" sz="2200" b="1" u="none" strike="noStrike">
                  <a:solidFill>
                    <a:srgbClr val="424242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3-5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8700" y="7418069"/>
            <a:ext cx="16230600" cy="1176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spcBef>
                <a:spcPct val="0"/>
              </a:spcBef>
            </a:pPr>
            <a:r>
              <a:rPr lang="en-US" sz="2549" dirty="0" err="1">
                <a:solidFill>
                  <a:srgbClr val="424242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FAQFlow</a:t>
            </a:r>
            <a:r>
              <a:rPr lang="en-US" sz="2549" dirty="0">
                <a:solidFill>
                  <a:srgbClr val="424242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 AI demonstrates exceptional performance with 92% answer accuracy through RAG-powered retrieval. The system achieves sub-second response times averaging 0.8 seconds, while maintaining 85% user satisfaction. The architecture efficiently supports over 100 concurrent users with FAISS-powered vector search.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32959" y="-2455521"/>
            <a:ext cx="5049982" cy="6172200"/>
          </a:xfrm>
          <a:custGeom>
            <a:avLst/>
            <a:gdLst/>
            <a:ahLst/>
            <a:cxnLst/>
            <a:rect l="l" t="t" r="r" b="b"/>
            <a:pathLst>
              <a:path w="5049982" h="6172200">
                <a:moveTo>
                  <a:pt x="0" y="0"/>
                </a:moveTo>
                <a:lnTo>
                  <a:pt x="5049982" y="0"/>
                </a:lnTo>
                <a:lnTo>
                  <a:pt x="504998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30195" y="70903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878115" y="5660786"/>
            <a:ext cx="15813629" cy="16379465"/>
          </a:xfrm>
          <a:custGeom>
            <a:avLst/>
            <a:gdLst/>
            <a:ahLst/>
            <a:cxnLst/>
            <a:rect l="l" t="t" r="r" b="b"/>
            <a:pathLst>
              <a:path w="15813629" h="16379465">
                <a:moveTo>
                  <a:pt x="0" y="0"/>
                </a:moveTo>
                <a:lnTo>
                  <a:pt x="15813630" y="0"/>
                </a:lnTo>
                <a:lnTo>
                  <a:pt x="15813630" y="16379465"/>
                </a:lnTo>
                <a:lnTo>
                  <a:pt x="0" y="16379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862383" y="-11235965"/>
            <a:ext cx="15813629" cy="16379465"/>
          </a:xfrm>
          <a:custGeom>
            <a:avLst/>
            <a:gdLst/>
            <a:ahLst/>
            <a:cxnLst/>
            <a:rect l="l" t="t" r="r" b="b"/>
            <a:pathLst>
              <a:path w="15813629" h="16379465">
                <a:moveTo>
                  <a:pt x="0" y="0"/>
                </a:moveTo>
                <a:lnTo>
                  <a:pt x="15813629" y="0"/>
                </a:lnTo>
                <a:lnTo>
                  <a:pt x="15813629" y="16379465"/>
                </a:lnTo>
                <a:lnTo>
                  <a:pt x="0" y="16379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352800" y="1562100"/>
            <a:ext cx="10822500" cy="1083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40"/>
              </a:lnSpc>
              <a:spcBef>
                <a:spcPct val="0"/>
              </a:spcBef>
            </a:pPr>
            <a:r>
              <a:rPr lang="en-US" sz="6600" dirty="0">
                <a:solidFill>
                  <a:srgbClr val="F8F4EB"/>
                </a:solidFill>
                <a:latin typeface="Times New Roman" panose="02020603050405020304" pitchFamily="18" charset="0"/>
                <a:ea typeface="Maragsa"/>
                <a:cs typeface="Times New Roman" panose="02020603050405020304" pitchFamily="18" charset="0"/>
                <a:sym typeface="Maragsa"/>
              </a:rPr>
              <a:t>CONCLUSION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53263" y="4356689"/>
            <a:ext cx="11618240" cy="273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F8F4E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Developed intelligent FAQ assistant using RAG architecture</a:t>
            </a: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F8F4E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Enables conversational AI-based interaction</a:t>
            </a: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F8F4E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Provides accurate and context-aware responses</a:t>
            </a: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F8F4E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Improves user experience with efficient retrieval</a:t>
            </a:r>
          </a:p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8F4EB"/>
              </a:solidFill>
              <a:latin typeface="Times New Roman" panose="02020603050405020304" pitchFamily="18" charset="0"/>
              <a:ea typeface="Agrandir"/>
              <a:cs typeface="Times New Roman" panose="02020603050405020304" pitchFamily="18" charset="0"/>
              <a:sym typeface="Agrandi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32959" y="-2455521"/>
            <a:ext cx="5049982" cy="6172200"/>
          </a:xfrm>
          <a:custGeom>
            <a:avLst/>
            <a:gdLst/>
            <a:ahLst/>
            <a:cxnLst/>
            <a:rect l="l" t="t" r="r" b="b"/>
            <a:pathLst>
              <a:path w="5049982" h="6172200">
                <a:moveTo>
                  <a:pt x="0" y="0"/>
                </a:moveTo>
                <a:lnTo>
                  <a:pt x="5049982" y="0"/>
                </a:lnTo>
                <a:lnTo>
                  <a:pt x="504998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30195" y="70903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878115" y="5660786"/>
            <a:ext cx="15813629" cy="16379465"/>
          </a:xfrm>
          <a:custGeom>
            <a:avLst/>
            <a:gdLst/>
            <a:ahLst/>
            <a:cxnLst/>
            <a:rect l="l" t="t" r="r" b="b"/>
            <a:pathLst>
              <a:path w="15813629" h="16379465">
                <a:moveTo>
                  <a:pt x="0" y="0"/>
                </a:moveTo>
                <a:lnTo>
                  <a:pt x="15813630" y="0"/>
                </a:lnTo>
                <a:lnTo>
                  <a:pt x="15813630" y="16379465"/>
                </a:lnTo>
                <a:lnTo>
                  <a:pt x="0" y="16379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862383" y="-11235965"/>
            <a:ext cx="15813629" cy="16379465"/>
          </a:xfrm>
          <a:custGeom>
            <a:avLst/>
            <a:gdLst/>
            <a:ahLst/>
            <a:cxnLst/>
            <a:rect l="l" t="t" r="r" b="b"/>
            <a:pathLst>
              <a:path w="15813629" h="16379465">
                <a:moveTo>
                  <a:pt x="0" y="0"/>
                </a:moveTo>
                <a:lnTo>
                  <a:pt x="15813629" y="0"/>
                </a:lnTo>
                <a:lnTo>
                  <a:pt x="15813629" y="16379465"/>
                </a:lnTo>
                <a:lnTo>
                  <a:pt x="0" y="16379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76600" y="1600649"/>
            <a:ext cx="10822500" cy="1083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40"/>
              </a:lnSpc>
              <a:spcBef>
                <a:spcPct val="0"/>
              </a:spcBef>
            </a:pPr>
            <a:r>
              <a:rPr lang="en-US" sz="6600" dirty="0">
                <a:solidFill>
                  <a:srgbClr val="F8F4EB"/>
                </a:solidFill>
                <a:latin typeface="Times New Roman" panose="02020603050405020304" pitchFamily="18" charset="0"/>
                <a:ea typeface="Maragsa"/>
                <a:cs typeface="Times New Roman" panose="02020603050405020304" pitchFamily="18" charset="0"/>
                <a:sym typeface="Maragsa"/>
              </a:rPr>
              <a:t> FUTURE SCOPE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78618" y="3155711"/>
            <a:ext cx="11618240" cy="380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F8F4E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Multi-language support (Hindi and regional languages)</a:t>
            </a: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F8F4E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Voice integration (speech-to-text and text-to-speech)</a:t>
            </a: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F8F4E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Integration with helpdesk systems</a:t>
            </a: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F8F4E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Advanced analytics and user behavior tracking</a:t>
            </a: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F8F4E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Domain-specific model fine-tuning</a:t>
            </a:r>
          </a:p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8F4EB"/>
              </a:solidFill>
              <a:latin typeface="Times New Roman" panose="02020603050405020304" pitchFamily="18" charset="0"/>
              <a:ea typeface="Agrandir"/>
              <a:cs typeface="Times New Roman" panose="02020603050405020304" pitchFamily="18" charset="0"/>
              <a:sym typeface="Agrandi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35052" y="3610097"/>
            <a:ext cx="10700147" cy="2141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  <a:spcBef>
                <a:spcPct val="0"/>
              </a:spcBef>
            </a:pPr>
            <a:r>
              <a:rPr lang="en-US" sz="12999" b="1" dirty="0">
                <a:solidFill>
                  <a:srgbClr val="424242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402</Words>
  <Application>Microsoft Office PowerPoint</Application>
  <PresentationFormat>Custom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Maragsa</vt:lpstr>
      <vt:lpstr>Agrandir</vt:lpstr>
      <vt:lpstr>Times New Roman Bold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FAQFlow AI: Conversational FAQ with RAG</dc:title>
  <cp:lastModifiedBy>YASASRI AMUDALAPALLI</cp:lastModifiedBy>
  <cp:revision>3</cp:revision>
  <dcterms:created xsi:type="dcterms:W3CDTF">2006-08-16T00:00:00Z</dcterms:created>
  <dcterms:modified xsi:type="dcterms:W3CDTF">2026-05-05T17:31:38Z</dcterms:modified>
  <dc:identifier>DAHIWNWyIvU</dc:identifier>
</cp:coreProperties>
</file>